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097280"/>
            <a:ext cx="6400800" cy="64008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5029200"/>
            <a:ext cx="3200400" cy="3200400"/>
          </a:xfrm>
          <a:prstGeom prst="ellipse">
            <a:avLst/>
          </a:prstGeom>
          <a:solidFill>
            <a:srgbClr val="1E4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2011680" cy="4114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자동화 완료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자재부족현황 키팅 자동화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0B429"/>
                </a:solidFill>
              </a:rPr>
              <a:t>완료 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0"/>
                </a:solidFill>
              </a:rPr>
              <a:t>Material Shortage Status vs. Production Plan  —  Kitting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11880"/>
            <a:ext cx="5486400" cy="254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9476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보고 일자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9476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2026년 04월 01일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788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대상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17880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sMES (Shinsung Auto Tech MES)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628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자동화 범위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562856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키팅 자재 다운로드 → 자재부족현황 웹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4690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사용 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946904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E4F8"/>
                </a:solidFill>
              </a:rPr>
              <a:t>pywinauto · pyautogui · Playwright · Win32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프로젝트 개요 및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자동화 도입 배경 · 해결 과제 · 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48640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도입 배경 및 목적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4864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기존 업무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56816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매일 sMES에서 키팅 자재 데이터를 수동으로 조회하고
Excel 파일을 품목별로 개별 다운로드 후 자재부족현황
웹앱에 수동 업로드하는 반복 작업 수행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61488"/>
            <a:ext cx="54864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문제점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54096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반복 수작업으로 인한 업무 시간 낭비
• 수동 입력 오류 발생 가능성
• 일별 데이터 누락 리스크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58768"/>
            <a:ext cx="54864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3A5F"/>
                </a:solidFill>
              </a:rPr>
              <a:t>자동화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51376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</a:rPr>
              <a:t>• sMES 실행부터 웹 업로드까지 원클릭 완전 자동화
• 사람 개입 없이 정확한 데이터 처리
• 업무 담당자 부재 시에도 안정적 운영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43000"/>
            <a:ext cx="5760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1612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 자동화 적용 범위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664208"/>
            <a:ext cx="658368" cy="50292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7739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6916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52A3"/>
                </a:solidFill>
              </a:rPr>
              <a:t>sMES 자동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9385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관리자 권한 획득 → sMES.exe 실행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350008"/>
            <a:ext cx="658368" cy="50292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4597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3774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868C"/>
                </a:solidFill>
              </a:rPr>
              <a:t>로그인 자동화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6243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ID/PW 자동 입력 → 로그인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035808"/>
            <a:ext cx="658368" cy="5029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1455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0632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359E"/>
                </a:solidFill>
              </a:rPr>
              <a:t>메뉴 자동 이동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3101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생산관리 &gt; 조립 자재 Kitting 진입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21608"/>
            <a:ext cx="658368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8313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7490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날짜 설정 &amp; 조회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3995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당일 날짜 자동 입력 → 조회 실행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407408"/>
            <a:ext cx="658368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45171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44348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Excel 품목별 다운로드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46817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전체 품목 순차 Excel 파일 저장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093208"/>
            <a:ext cx="658368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2029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512064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8A4A"/>
                </a:solidFill>
              </a:rPr>
              <a:t>웹 자동 업로드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2592" y="53675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Playwright → 자재부족현황 업로드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시스템 아키텍처 및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Python 기반 GUI 자동화 + 웹 자동화 통합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8288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97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E3A5F"/>
                </a:solidFill>
              </a:rPr>
              <a:t>sMES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65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E3A5F"/>
                </a:solidFill>
              </a:rPr>
              <a:t>Desktop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Win32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9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GUI 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87452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1430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60" y="1143000"/>
            <a:ext cx="1828800" cy="50292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197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952A3"/>
                </a:solidFill>
              </a:rPr>
              <a:t>pywinauto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1965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952A3"/>
                </a:solidFill>
              </a:rPr>
              <a:t>자동화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창 탐지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569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컨트롤 조작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187452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11430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1143000"/>
            <a:ext cx="1828800" cy="50292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197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868C"/>
                </a:solidFill>
              </a:rPr>
              <a:t>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965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868C"/>
                </a:solidFill>
              </a:rPr>
              <a:t>다운로드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품목별 xlsx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569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자동 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87452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1430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1143000"/>
            <a:ext cx="182880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1197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67E22"/>
                </a:solidFill>
              </a:rPr>
              <a:t>파일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1965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67E22"/>
                </a:solidFill>
              </a:rPr>
              <a:t>이동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Downloads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569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kitting 폴더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187452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11430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1143000"/>
            <a:ext cx="1828800" cy="50292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0" y="1197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8A4A"/>
                </a:solidFill>
              </a:rPr>
              <a:t>Playwright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1965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8A4A"/>
                </a:solidFill>
              </a:rPr>
              <a:t>업로드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Chromium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2569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브라우저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1874520"/>
            <a:ext cx="9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1143000"/>
            <a:ext cx="1828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20" y="1143000"/>
            <a:ext cx="1828800" cy="50292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119786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6C359E"/>
                </a:solidFill>
              </a:rPr>
              <a:t>자재부족현황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1965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6C359E"/>
                </a:solidFill>
              </a:rPr>
              <a:t>웹앱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60" y="2313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업로드 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25694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33333"/>
                </a:solidFill>
              </a:rPr>
              <a:t>팝업 알림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154680"/>
            <a:ext cx="1164031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3154680"/>
            <a:ext cx="11640312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1729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기술 스택 및 핵심 라이브러리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3657600"/>
            <a:ext cx="1828800" cy="32004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pywinauto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Windows GUI 컨트롤 자동화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(win32/uia 이중 백엔드 지원)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952A3"/>
                </a:solidFill>
              </a:rPr>
              <a:t>• sMES 창 연결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4791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952A3"/>
                </a:solidFill>
              </a:rPr>
              <a:t>• Edit 컨트롤 탐지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952A3"/>
                </a:solidFill>
              </a:rPr>
              <a:t>• 메뉴 클릭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77440" y="3657600"/>
            <a:ext cx="1828800" cy="32004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50592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pyautogui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744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마우스·키보드 시뮬레이션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7744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(저수준 입력 이벤트)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868C"/>
                </a:solidFill>
              </a:rPr>
              <a:t>• 화면 좌표 클릭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77440" y="4791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868C"/>
                </a:solidFill>
              </a:rPr>
              <a:t>• 키보드 입력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7744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868C"/>
                </a:solidFill>
              </a:rPr>
              <a:t>• 스크린샷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43400" y="3657600"/>
            <a:ext cx="1828800" cy="32004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16552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Playwright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4340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Chromium 브라우저 자동화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4340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(Microsoft 공식 E2E 도구)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4340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8A4A"/>
                </a:solidFill>
              </a:rPr>
              <a:t>• 웹앱 로그인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43400" y="4791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8A4A"/>
                </a:solidFill>
              </a:rPr>
              <a:t>• 파일 업로드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4340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8A4A"/>
                </a:solidFill>
              </a:rPr>
              <a:t>• JS 실행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09360" y="3657600"/>
            <a:ext cx="1828800" cy="32004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82512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win32clipboard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6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Windows 클립보드 API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(특수문자 안전 입력)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0936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C359E"/>
                </a:solidFill>
              </a:rPr>
              <a:t>• PW 클립보드 입력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60" y="4791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C359E"/>
                </a:solidFill>
              </a:rPr>
              <a:t>• 한글 지원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936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C359E"/>
                </a:solidFill>
              </a:rPr>
              <a:t>• 특수문자 처리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5320" y="3657600"/>
            <a:ext cx="182880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48472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psutil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7532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프로세스 관리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7532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(PID 탐색 및 모니터링)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7532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• PID 자동 탐색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75320" y="4791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• 프로세스 재활용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7532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67E22"/>
                </a:solidFill>
              </a:rPr>
              <a:t>• 상태 확인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41280" y="3657600"/>
            <a:ext cx="18288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314432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subprocess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0" y="40416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외부 프로세스 실행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41280" y="42793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(sMES.exe 비동기 실행)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41280" y="45720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• sMES 실행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41280" y="47914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• 비동기 처리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41280" y="50109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392B"/>
                </a:solidFill>
              </a:rPr>
              <a:t>• 오류 감지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구현 결과 —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sMES GUI 자동화부터 웹 업로드까지 핵심 구현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9476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94760" cy="38404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88720"/>
            <a:ext cx="3575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관리자 권한 자동 획득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1848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ctypes Win32 API로 실행 권한 확인 후
비권한 시 UAC ShellExecuteW('runas')로
자동 재실행 — 매번 수동 UAC 승인 불필요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532888"/>
            <a:ext cx="3575304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79192"/>
            <a:ext cx="164592" cy="16459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6517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is_admin() 자동 감지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53512"/>
            <a:ext cx="164592" cy="16459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26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UAC 자동 상승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27831"/>
            <a:ext cx="164592" cy="16459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200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보안 정책 준수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8" y="1143000"/>
            <a:ext cx="379476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78808" y="1143000"/>
            <a:ext cx="3794760" cy="38404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8536" y="1188720"/>
            <a:ext cx="3575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🔗  sMES 창 자동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61848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psutil로 실행 중 PID 탐색 후 pywinauto
win32 → uia 이중 백엔드로 안정적 연결
창 면적 기준으로 메인 창 자동 선택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8536" y="2532888"/>
            <a:ext cx="3575304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15968" y="2679192"/>
            <a:ext cx="164592" cy="16459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26517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PID 자동 탐색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2953512"/>
            <a:ext cx="164592" cy="16459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2926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이중 백엔드 폴백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227831"/>
            <a:ext cx="164592" cy="16459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3200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면적 기준 창 선택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3296" y="1143000"/>
            <a:ext cx="379476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3296" y="1143000"/>
            <a:ext cx="3794760" cy="38404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024" y="1188720"/>
            <a:ext cx="3575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🔑  로그인 완전 자동화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161848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WindowsForms10.EDIT 컨트롤 탐지로
ID는 type_keys 직접 입력, PW는 클립보드
우회 입력 (특수문자 오입력 방지)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4" y="2532888"/>
            <a:ext cx="3575304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6" y="2679192"/>
            <a:ext cx="164592" cy="164592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26517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Edit 컨트롤 탐지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2953512"/>
            <a:ext cx="164592" cy="164592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67344" y="29260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클립보드 PW 입력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227831"/>
            <a:ext cx="164592" cy="164592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32004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로그인 성공 검증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49040"/>
            <a:ext cx="379476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749040"/>
            <a:ext cx="379476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3794760"/>
            <a:ext cx="3575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메뉴 자동 탐색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422452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생산관리 &gt; 조립 자재 Kitting 메뉴를
UIA MenuItem 또는 좌표 클릭으로 진입
날짜 자동 설정 후 조회 실행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5138928"/>
            <a:ext cx="3575304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5285232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5257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다중 탐색 전략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559552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5532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좌표 클릭 폴백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833871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5806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날짜 자동 입력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8808" y="3749040"/>
            <a:ext cx="379476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78808" y="3749040"/>
            <a:ext cx="379476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88536" y="3794760"/>
            <a:ext cx="3575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📥  품목별 Excel 다운로드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5968" y="422452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그리드 행 탐지 → 품목별 순차 클릭
→ Excel 버튼 → 저장 다이얼로그 자동처리
파일명: sMES_{YYYYMMDDHHMMSS}.xlsx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88536" y="5138928"/>
            <a:ext cx="3575304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15968" y="5285232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62856" y="5257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그리드 행 자동 탐지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15968" y="5559552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62856" y="5532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저장 다이얼로그 처리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15968" y="5833871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62856" y="5806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Downloads→kitting 이동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83296" y="3749040"/>
            <a:ext cx="379476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83296" y="3749040"/>
            <a:ext cx="3794760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93024" y="3794760"/>
            <a:ext cx="35753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 Playwright 웹 업로드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0456" y="4224528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Chromium 브라우저 자동 실행 후
자재부족현황 웹앱 로그인 → 키팅 초기화
→ 전체 xlsx 일괄 업로드 → 완료 팝업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93024" y="5138928"/>
            <a:ext cx="3575304" cy="10160"/>
          </a:xfrm>
          <a:prstGeom prst="rect">
            <a:avLst/>
          </a:prstGeom>
          <a:solidFill>
            <a:srgbClr val="CCD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0456" y="5285232"/>
            <a:ext cx="164592" cy="16459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7344" y="52578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브라우저 자동 실행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0456" y="5559552"/>
            <a:ext cx="164592" cy="16459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67344" y="5532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다중 파일 업로드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0456" y="5833871"/>
            <a:ext cx="164592" cy="16459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67344" y="58064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JS 완료 팝업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오류 처리 및 폴백(Fallback)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자동화 실패 시 대체 처리 경로 — 업무 연속성 보장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8346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17957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sMES.exe 미존재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545336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FileNotFoundError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148840"/>
            <a:ext cx="2615184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15798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95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실행 경로 재확인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700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(수동 개입 요청)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143000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1143000"/>
            <a:ext cx="28346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117957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창 연결 실패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64408" y="1545336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5544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win32 백엔드 실패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148840"/>
            <a:ext cx="2615184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15798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395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uia 백엔드 자동 재시도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6700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→ 수동 실행 안내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143000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1143000"/>
            <a:ext cx="2834640" cy="347472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117957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로그인 창 미탐지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1545336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5544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20초 타임아웃 초과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0488" y="2148840"/>
            <a:ext cx="2615184" cy="18288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15798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95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359E"/>
                </a:solidFill>
              </a:rPr>
              <a:t>가장 작은 창을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6700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C359E"/>
                </a:solidFill>
              </a:rPr>
              <a:t>로그인 폼으로 가정 처리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1143000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1143000"/>
            <a:ext cx="2834640" cy="347472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8" y="1179576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로그인 실패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16568" y="1545336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5544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1783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10초 후 창 미닫힘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16568" y="2148840"/>
            <a:ext cx="2615184" cy="18288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15798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395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868C"/>
                </a:solidFill>
              </a:rPr>
              <a:t>RuntimeError 발생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26700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868C"/>
                </a:solidFill>
              </a:rPr>
              <a:t>→ 수동 로그인 안내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584448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3584448"/>
            <a:ext cx="2834640" cy="347472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" y="36210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그리드 행 미탐지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8328" y="3986784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995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컨트롤 타입 탐색 실패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" y="4590288"/>
            <a:ext cx="2615184" cy="18288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45994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48371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52A3"/>
                </a:solidFill>
              </a:rPr>
              <a:t>키보드 Down 방식으로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111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952A3"/>
                </a:solidFill>
              </a:rPr>
              <a:t>자동 전환 (최대 200행)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3584448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54680" y="3584448"/>
            <a:ext cx="2834640" cy="347472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4408" y="36210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저장 다이얼로그 없음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986784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1840" y="3995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자동 저장(무다이얼로그)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64408" y="4590288"/>
            <a:ext cx="2615184" cy="1828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91840" y="45994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91840" y="48371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8A4A"/>
                </a:solidFill>
              </a:rPr>
              <a:t>Downloads 최근 xlsx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91840" y="5111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8A4A"/>
                </a:solidFill>
              </a:rPr>
              <a:t>(30초 이내) 자동 이동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60" y="3584448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80760" y="3584448"/>
            <a:ext cx="283464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0488" y="36210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Excel 버튼 미탐지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0488" y="3986784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3995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다운로드 버튼 미발견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90488" y="4590288"/>
            <a:ext cx="2615184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45994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48371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수동 저장 안내 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17920" y="5111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67E22"/>
                </a:solidFill>
              </a:rPr>
              <a:t>Downloads 자동 이동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06840" y="3584448"/>
            <a:ext cx="28346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06840" y="3584448"/>
            <a:ext cx="283464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16568" y="3621024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Playwright 로그인 실패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16568" y="3986784"/>
            <a:ext cx="2615184" cy="182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00" y="39959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8888"/>
                </a:solidFill>
              </a:rPr>
              <a:t>원  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locator 탐색 실패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16568" y="4590288"/>
            <a:ext cx="2615184" cy="182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0" y="459943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처  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48371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수동 로그인 대기 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0" y="51114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392B"/>
                </a:solidFill>
              </a:rPr>
              <a:t>파일 업로드 계속 진행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자동화 성과 및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업무 시간 단축 · 오류 제로화 · 운영 안정성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743200" cy="10972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A8A4A"/>
                </a:solidFill>
              </a:rPr>
              <a:t>15개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848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</a:rPr>
              <a:t>품목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50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키팅 조회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79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(조립 자재 Kitting)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14300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1143000"/>
            <a:ext cx="2743200" cy="10972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952A3"/>
                </a:solidFill>
              </a:rPr>
              <a:t>1,598개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0848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</a:rPr>
              <a:t>재고 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450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창고별 부품 현재고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679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자동 조회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47104" y="114300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47104" y="1143000"/>
            <a:ext cx="27432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67E22"/>
                </a:solidFill>
              </a:rPr>
              <a:t>~3분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0848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</a:rPr>
              <a:t>자동화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544" y="2450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전체 파이프라인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679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실행 소요 시간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83496" y="1143000"/>
            <a:ext cx="27432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C3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3496" y="1143000"/>
            <a:ext cx="2743200" cy="10972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6" y="129844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C359E"/>
                </a:solidFill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20848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3333"/>
                </a:solidFill>
              </a:rPr>
              <a:t>업로드 완료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24505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Playwright 웹 자동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4936" y="2679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업로드 성공률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37560"/>
            <a:ext cx="5486400" cy="3246120"/>
          </a:xfrm>
          <a:prstGeom prst="rect">
            <a:avLst/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337560"/>
            <a:ext cx="54864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558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⏱  자동화 이전 (수동 업무)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840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✗  매일 sMES 수동 접속 및 키팅 메뉴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330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✗  품목별(15개) Excel 파일 개별 다운로드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25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✗  파일 이름 변경 및 폴더 정리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183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✗  자재부족현황 웹 로그인 → 수동 파일 업로드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109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✗  업로드 완료 확인 후 파일 정리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392B"/>
                </a:solidFill>
              </a:rPr>
              <a:t>✗  소요 시간: 약 20~30분 / 일 (작업자 상주 필요)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337560"/>
            <a:ext cx="5760720" cy="3246120"/>
          </a:xfrm>
          <a:prstGeom prst="rect">
            <a:avLst/>
          </a:prstGeom>
          <a:solidFill>
            <a:srgbClr val="D4EDDA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3337560"/>
            <a:ext cx="5760720" cy="41148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3558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자동화 이후 (자동화 완료)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840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8A4A"/>
                </a:solidFill>
              </a:rPr>
              <a:t>✓  run.bat 더블클릭 1회 — 전체 자동 실행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133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8A4A"/>
                </a:solidFill>
              </a:rPr>
              <a:t>✓  sMES 자동 실행 → 로그인 → 메뉴 진입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425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8A4A"/>
                </a:solidFill>
              </a:rPr>
              <a:t>✓  15개 품목 Excel 자동 다운로드 및 이동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7183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8A4A"/>
                </a:solidFill>
              </a:rPr>
              <a:t>✓  Playwright 브라우저 자동 로그인 및 업로드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0109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8A4A"/>
                </a:solidFill>
              </a:rPr>
              <a:t>✓  완료 팝업으로 결과 시각적 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303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8A4A"/>
                </a:solidFill>
              </a:rPr>
              <a:t>✓  소요 시간: 약 3분 / 일 (무인 자동 처리)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실행 로그 및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21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2026-03-31 실제 실행 로그 기반 동작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858000" cy="5029200"/>
          </a:xfrm>
          <a:prstGeom prst="rect">
            <a:avLst/>
          </a:prstGeom>
          <a:solidFill>
            <a:srgbClr val="1E1E2E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8580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📄  실행 로그 (kitting_log.txt — 2026-03-31)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[17:02:18] sMES 키팅 자동화 시작  (2026-03-31)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65376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D9EF"/>
                </a:solidFill>
              </a:rPr>
              <a:t>[17:02:22] ▶ Step 2: sMES 창 연결...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6E22E"/>
                </a:solidFill>
              </a:rPr>
              <a:t>[17:02:23]   창 연결 성공 (backend=win32)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40864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6E22E"/>
                </a:solidFill>
              </a:rPr>
              <a:t>[17:02:23]   'Shinsung Auto Tech MES' 연결됨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78608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D9EF"/>
                </a:solidFill>
              </a:rPr>
              <a:t>[17:02:23] ▶ Step 3: 로그인...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16352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8F2"/>
                </a:solidFill>
              </a:rPr>
              <a:t>[17:02:23]   sMES PID=20916 연결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8F2"/>
                </a:solidFill>
              </a:rPr>
              <a:t>[17:02:23]   로그인 폼 발견 / Edit 64개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6E22E"/>
                </a:solidFill>
              </a:rPr>
              <a:t>[17:02:25]   ① ID 입력 완료: SSAT045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6E22E"/>
                </a:solidFill>
              </a:rPr>
              <a:t>[17:02:27]   ② PW 입력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67328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6E22E"/>
                </a:solidFill>
              </a:rPr>
              <a:t>[17:02:28]   ✅ 로그인 성공 (로그인 창 닫힘)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05072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D9EF"/>
                </a:solidFill>
              </a:rPr>
              <a:t>[17:02:32] ▶ Step 4~5: 키팅 메뉴 이동 &amp; 다운로드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42816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8F2"/>
                </a:solidFill>
              </a:rPr>
              <a:t>[17:02:37]   생산관리 클릭...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6E22E"/>
                </a:solidFill>
              </a:rPr>
              <a:t>[17:02:43]   ✅ UIA MenuItem 성공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18304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8F2"/>
                </a:solidFill>
              </a:rPr>
              <a:t>[17:02:51]   생산일자 설정: 2026-03-31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56048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DD835"/>
                </a:solidFill>
              </a:rPr>
              <a:t>[17:06:56]   조회 결과: 15 Rows (조립 자재 Kitting)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93792"/>
            <a:ext cx="6492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D9EF"/>
                </a:solidFill>
              </a:rPr>
              <a:t>[17:06:56]   품목별 Excel 다운로드 시작...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143000"/>
            <a:ext cx="44805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143000"/>
            <a:ext cx="4480560" cy="38404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116128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 검증 결과 요약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166420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17099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sMES 자동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9110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win32 backend 연결 성공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1664208"/>
            <a:ext cx="214884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5480" y="17556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21284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2585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로그인 자동화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4597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SSAT045 자동 로그인 성공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55480" y="2212848"/>
            <a:ext cx="214884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23042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276148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28072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메뉴 자동 이동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0083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UIA MenuItem 방식 성공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55480" y="2761488"/>
            <a:ext cx="214884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28529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331012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3558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날짜 자동 설정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55701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2026-03-31 자동 입력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55480" y="3310128"/>
            <a:ext cx="214884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55480" y="34015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43800" y="385876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39044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조회 실행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410565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15 Rows 조회 결과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55480" y="3858768"/>
            <a:ext cx="214884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39502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440740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445312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Excel 다운로드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465429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품목별 다운로드 자동화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55480" y="4407408"/>
            <a:ext cx="21488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44988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◐ 진행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43800" y="495604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500176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재고현황 업로드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520293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일별 xlsx 자동 저장 확인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55480" y="4956048"/>
            <a:ext cx="21488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55480" y="5047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◐ 진행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5504688"/>
            <a:ext cx="1920240" cy="457200"/>
          </a:xfrm>
          <a:prstGeom prst="rect">
            <a:avLst/>
          </a:prstGeom>
          <a:solidFill>
            <a:srgbClr val="F4F6F9"/>
          </a:solidFill>
          <a:ln w="12700">
            <a:solidFill>
              <a:srgbClr val="1A8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35240" y="555040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</a:rPr>
              <a:t>Playwright 업로드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5751576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웹앱 자동 업로드 성공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55480" y="5504688"/>
            <a:ext cx="2148840" cy="457200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55480" y="559612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✓ 완료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5029200" cy="5029200"/>
          </a:xfrm>
          <a:prstGeom prst="ellipse">
            <a:avLst/>
          </a:prstGeom>
          <a:solidFill>
            <a:srgbClr val="254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향후 개선 계획 및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37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0A0C8"/>
                </a:solidFill>
              </a:rPr>
              <a:t>키팅 자동화 완료보고서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6858000" cy="5029200"/>
          </a:xfrm>
          <a:prstGeom prst="rect">
            <a:avLst/>
          </a:prstGeom>
          <a:solidFill>
            <a:srgbClr val="1E3052"/>
          </a:solidFill>
          <a:ln w="12700">
            <a:solidFill>
              <a:srgbClr val="29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6858000" cy="411480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6128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 향후 개선 계획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91640"/>
            <a:ext cx="1371600" cy="3200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282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단기 (1~2주)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172821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조회 버튼 자동화 완성 (현재 수동 개입 필요)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0025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Excel 다운로드 예외 케이스 추가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27685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실행 결과 이메일/슬랙 자동 알림 연동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88920"/>
            <a:ext cx="1371600" cy="320040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254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중기 (1개월)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282549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스케줄러 연동 — 매일 특정 시간 자동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309981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다운로드 파일 품목명 자동 매핑 및 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337413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업로드 실패 시 재시도 로직 강화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86200"/>
            <a:ext cx="1371600" cy="320040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227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장기 (3개월+)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392277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생산계획 대비 부족현황 대시보드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419709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sMES API 연동으로 GUI 의존성 제거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4471416"/>
            <a:ext cx="5074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8DCF0"/>
                </a:solidFill>
              </a:rPr>
              <a:t>  →  자동화 실행 이력 DB 저장 및 통계 분석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143000"/>
            <a:ext cx="4480560" cy="5029200"/>
          </a:xfrm>
          <a:prstGeom prst="rect">
            <a:avLst/>
          </a:prstGeom>
          <a:solidFill>
            <a:srgbClr val="1A3555"/>
          </a:solidFill>
          <a:ln w="19050">
            <a:solidFill>
              <a:srgbClr val="F0B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143000"/>
            <a:ext cx="4480560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116128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📌  결론 및 요약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1691640"/>
            <a:ext cx="292608" cy="292608"/>
          </a:xfrm>
          <a:prstGeom prst="rect">
            <a:avLst/>
          </a:prstGeom>
          <a:solidFill>
            <a:srgbClr val="1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1728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1691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8FF"/>
                </a:solidFill>
              </a:rPr>
              <a:t>sMES GUI 자동화 핵심 기능 구현 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377440"/>
            <a:ext cx="292608" cy="292608"/>
          </a:xfrm>
          <a:prstGeom prst="rect">
            <a:avLst/>
          </a:prstGeom>
          <a:solidFill>
            <a:srgbClr val="0D8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24140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377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8FF"/>
                </a:solidFill>
              </a:rPr>
              <a:t>pywinauto win32/uia 이중 백엔드로
안정적 창 연결 및 제어 달성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3063240"/>
            <a:ext cx="292608" cy="292608"/>
          </a:xfrm>
          <a:prstGeom prst="rect">
            <a:avLst/>
          </a:prstGeom>
          <a:solidFill>
            <a:srgbClr val="29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0998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2127" y="3063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8FF"/>
                </a:solidFill>
              </a:rPr>
              <a:t>로그인·메뉴이동·날짜설정 완전 자동화
(수동 개입 최소화)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749040"/>
            <a:ext cx="292608" cy="292608"/>
          </a:xfrm>
          <a:prstGeom prst="rect">
            <a:avLst/>
          </a:prstGeom>
          <a:solidFill>
            <a:srgbClr val="6C3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37856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749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8FF"/>
                </a:solidFill>
              </a:rPr>
              <a:t>Playwright 기반 웹 업로드 자동화로
자재부족현황 데이터 실시간 반영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79" y="4434840"/>
            <a:ext cx="292608" cy="2926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4714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4434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8FF"/>
                </a:solidFill>
              </a:rPr>
              <a:t>8가지 예외 상황별 폴백 전략으로
무중단 업무 연속성 확보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5120640"/>
            <a:ext cx="292608" cy="292608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79" y="515721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5120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E8FF"/>
                </a:solidFill>
              </a:rPr>
              <a:t>일 평균 20~30분 수작업을 3분으로
단축 — 약 90% 업무 시간 절감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