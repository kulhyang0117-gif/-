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326880" y="-914400"/>
            <a:ext cx="5486400" cy="5486400"/>
          </a:xfrm>
          <a:prstGeom prst="ellipse">
            <a:avLst/>
          </a:prstGeom>
          <a:solidFill>
            <a:srgbClr val="254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389120"/>
            <a:ext cx="4572000" cy="4572000"/>
          </a:xfrm>
          <a:prstGeom prst="ellipse">
            <a:avLst/>
          </a:prstGeom>
          <a:solidFill>
            <a:srgbClr val="18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0" y="5303520"/>
            <a:ext cx="2743200" cy="2743200"/>
          </a:xfrm>
          <a:prstGeom prst="ellipse">
            <a:avLst/>
          </a:prstGeom>
          <a:solidFill>
            <a:srgbClr val="1E4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95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sMES 키팅 자동화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7627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90B8E8"/>
                </a:solidFill>
              </a:rPr>
              <a:t>로직 구현 방법 설명서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346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0C8E0"/>
                </a:solidFill>
              </a:rPr>
              <a:t>pywinauto · pyautogui · Playwright · Win32 API 연동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337560"/>
            <a:ext cx="5029200" cy="19050"/>
          </a:xfrm>
          <a:prstGeom prst="rect">
            <a:avLst/>
          </a:prstGeom>
          <a:solidFill>
            <a:srgbClr val="295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520440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0D8F0"/>
                </a:solidFill>
              </a:rPr>
              <a:t>Step 1  sMES.exe 자동 실행 &amp; 관리자 권한 획득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49624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0D8F0"/>
                </a:solidFill>
              </a:rPr>
              <a:t>Step 2  pywinauto 창 연결 (win32 / uia 백엔드)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78808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0D8F0"/>
                </a:solidFill>
              </a:rPr>
              <a:t>Step 3  로그인 자동화 (Edit 컨트롤 탐지 + 클립보드 입력)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507992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0D8F0"/>
                </a:solidFill>
              </a:rPr>
              <a:t>Step 4  메뉴 탐색 — 생산관리 &gt; 조립 자재 kitting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837176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0D8F0"/>
                </a:solidFill>
              </a:rPr>
              <a:t>Step 5  날짜 설정 + 조회 + 품목별 Excel 다운로드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166360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0D8F0"/>
                </a:solidFill>
              </a:rPr>
              <a:t>Step 6  Playwright — 자재부족현황 웹앱 자동 업로드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495544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0D8F0"/>
                </a:solidFill>
              </a:rPr>
              <a:t>Step 7  오류 처리 &amp; 폴백 전략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</a:rPr>
              <a:t>전체 자동화 흐름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2179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4DE"/>
                </a:solidFill>
              </a:rPr>
              <a:t>main() 진입점부터 완료 팝업까지 — 7단계 순차 실행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37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0A0C8"/>
                </a:solidFill>
              </a:rPr>
              <a:t>키팅 자동화 시스템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188720"/>
            <a:ext cx="1581912" cy="2926080"/>
          </a:xfrm>
          <a:prstGeom prst="rect">
            <a:avLst/>
          </a:prstGeom>
          <a:solidFill>
            <a:srgbClr val="FBEAE8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" y="1188720"/>
            <a:ext cx="1581912" cy="5029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" y="1243584"/>
            <a:ext cx="1581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" y="1719072"/>
            <a:ext cx="1581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0392B"/>
                </a:solidFill>
              </a:rPr>
              <a:t>관리자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" y="1975104"/>
            <a:ext cx="1581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0392B"/>
                </a:solidFill>
              </a:rPr>
              <a:t>권한 확인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" y="2240280"/>
            <a:ext cx="1362456" cy="10160"/>
          </a:xfrm>
          <a:prstGeom prst="rect">
            <a:avLst/>
          </a:prstGeom>
          <a:solidFill>
            <a:srgbClr val="CCD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" y="2377440"/>
            <a:ext cx="1399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is_admin()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" y="2670048"/>
            <a:ext cx="1399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UAC 권한 상승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3794760"/>
            <a:ext cx="15819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0392B"/>
                </a:solidFill>
              </a:rPr>
              <a:t>Step 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2423160"/>
            <a:ext cx="9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3A5F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47088" y="1188720"/>
            <a:ext cx="1581912" cy="2926080"/>
          </a:xfrm>
          <a:prstGeom prst="rect">
            <a:avLst/>
          </a:prstGeom>
          <a:solidFill>
            <a:srgbClr val="D6E4F7"/>
          </a:solidFill>
          <a:ln w="19050">
            <a:solidFill>
              <a:srgbClr val="2952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47088" y="1188720"/>
            <a:ext cx="1581912" cy="502920"/>
          </a:xfrm>
          <a:prstGeom prst="rect">
            <a:avLst/>
          </a:prstGeom>
          <a:solidFill>
            <a:srgbClr val="295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47088" y="1243584"/>
            <a:ext cx="1581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47088" y="1719072"/>
            <a:ext cx="1581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952A3"/>
                </a:solidFill>
              </a:rPr>
              <a:t>sMES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47088" y="1975104"/>
            <a:ext cx="1581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952A3"/>
                </a:solidFill>
              </a:rPr>
              <a:t>실행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56816" y="2240280"/>
            <a:ext cx="1362456" cy="10160"/>
          </a:xfrm>
          <a:prstGeom prst="rect">
            <a:avLst/>
          </a:prstGeom>
          <a:solidFill>
            <a:srgbClr val="CCD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38528" y="2377440"/>
            <a:ext cx="1399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subprocess.Popen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38528" y="2670048"/>
            <a:ext cx="1399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(sMES.exe)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47088" y="3794760"/>
            <a:ext cx="15819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952A3"/>
                </a:solidFill>
              </a:rPr>
              <a:t>Step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2423160"/>
            <a:ext cx="9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3A5F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93008" y="1188720"/>
            <a:ext cx="1581912" cy="2926080"/>
          </a:xfrm>
          <a:prstGeom prst="rect">
            <a:avLst/>
          </a:prstGeom>
          <a:solidFill>
            <a:srgbClr val="D1F0F2"/>
          </a:solidFill>
          <a:ln w="19050">
            <a:solidFill>
              <a:srgbClr val="0D8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493008" y="1188720"/>
            <a:ext cx="1581912" cy="502920"/>
          </a:xfrm>
          <a:prstGeom prst="rect">
            <a:avLst/>
          </a:prstGeom>
          <a:solidFill>
            <a:srgbClr val="0D8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93008" y="1243584"/>
            <a:ext cx="1581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93008" y="1719072"/>
            <a:ext cx="1581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868C"/>
                </a:solidFill>
              </a:rPr>
              <a:t>창 연결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02736" y="2240280"/>
            <a:ext cx="1362456" cy="10160"/>
          </a:xfrm>
          <a:prstGeom prst="rect">
            <a:avLst/>
          </a:prstGeom>
          <a:solidFill>
            <a:srgbClr val="CCD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84448" y="2377440"/>
            <a:ext cx="1399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pywinauto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84448" y="2670048"/>
            <a:ext cx="1399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win32/uia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93008" y="3794760"/>
            <a:ext cx="15819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868C"/>
                </a:solidFill>
              </a:rPr>
              <a:t>Step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74920" y="2423160"/>
            <a:ext cx="9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3A5F"/>
                </a:solidFill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138928" y="1188720"/>
            <a:ext cx="1581912" cy="2926080"/>
          </a:xfrm>
          <a:prstGeom prst="rect">
            <a:avLst/>
          </a:prstGeom>
          <a:solidFill>
            <a:srgbClr val="EDE3F7"/>
          </a:solidFill>
          <a:ln w="19050">
            <a:solidFill>
              <a:srgbClr val="6C35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138928" y="1188720"/>
            <a:ext cx="1581912" cy="502920"/>
          </a:xfrm>
          <a:prstGeom prst="rect">
            <a:avLst/>
          </a:prstGeom>
          <a:solidFill>
            <a:srgbClr val="6C3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38928" y="1243584"/>
            <a:ext cx="1581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🔑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38928" y="1719072"/>
            <a:ext cx="1581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6C359E"/>
                </a:solidFill>
              </a:rPr>
              <a:t>로그인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248656" y="2240280"/>
            <a:ext cx="1362456" cy="10160"/>
          </a:xfrm>
          <a:prstGeom prst="rect">
            <a:avLst/>
          </a:prstGeom>
          <a:solidFill>
            <a:srgbClr val="CCD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230368" y="2377440"/>
            <a:ext cx="1399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Edit 컨트롤 탐지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30368" y="2670048"/>
            <a:ext cx="1399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클립보드 입력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38928" y="3794760"/>
            <a:ext cx="15819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C359E"/>
                </a:solidFill>
              </a:rPr>
              <a:t>Step 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20840" y="2423160"/>
            <a:ext cx="9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3A5F"/>
                </a:solidFill>
              </a:rPr>
              <a:t>→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784848" y="1188720"/>
            <a:ext cx="1581912" cy="2926080"/>
          </a:xfrm>
          <a:prstGeom prst="rect">
            <a:avLst/>
          </a:prstGeom>
          <a:solidFill>
            <a:srgbClr val="FDF3E3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784848" y="1188720"/>
            <a:ext cx="1581912" cy="502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84848" y="1243584"/>
            <a:ext cx="1581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84848" y="1719072"/>
            <a:ext cx="1581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67E22"/>
                </a:solidFill>
              </a:rPr>
              <a:t>메뉴+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84848" y="1975104"/>
            <a:ext cx="1581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67E22"/>
                </a:solidFill>
              </a:rPr>
              <a:t>다운로드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894576" y="2240280"/>
            <a:ext cx="1362456" cy="10160"/>
          </a:xfrm>
          <a:prstGeom prst="rect">
            <a:avLst/>
          </a:prstGeom>
          <a:solidFill>
            <a:srgbClr val="CCD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76288" y="2377440"/>
            <a:ext cx="1399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생산관리&gt;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76288" y="2670048"/>
            <a:ext cx="1399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kitting&gt;조회&gt;Excel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84848" y="3794760"/>
            <a:ext cx="15819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67E22"/>
                </a:solidFill>
              </a:rPr>
              <a:t>Step 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66760" y="2423160"/>
            <a:ext cx="9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3A5F"/>
                </a:solidFill>
              </a:rPr>
              <a:t>→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430768" y="1188720"/>
            <a:ext cx="1581912" cy="2926080"/>
          </a:xfrm>
          <a:prstGeom prst="rect">
            <a:avLst/>
          </a:prstGeom>
          <a:solidFill>
            <a:srgbClr val="D4EDDA"/>
          </a:solidFill>
          <a:ln w="19050">
            <a:solidFill>
              <a:srgbClr val="1A8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430768" y="1188720"/>
            <a:ext cx="1581912" cy="502920"/>
          </a:xfrm>
          <a:prstGeom prst="rect">
            <a:avLst/>
          </a:prstGeom>
          <a:solidFill>
            <a:srgbClr val="1A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430768" y="1243584"/>
            <a:ext cx="1581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🌐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30768" y="1719072"/>
            <a:ext cx="1581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8A4A"/>
                </a:solidFill>
              </a:rPr>
              <a:t>웹 업로드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540496" y="2240280"/>
            <a:ext cx="1362456" cy="10160"/>
          </a:xfrm>
          <a:prstGeom prst="rect">
            <a:avLst/>
          </a:prstGeom>
          <a:solidFill>
            <a:srgbClr val="CCD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522208" y="2377440"/>
            <a:ext cx="1399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Playwright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22208" y="2670048"/>
            <a:ext cx="1399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자동 파일 업로드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30768" y="3794760"/>
            <a:ext cx="15819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8A4A"/>
                </a:solidFill>
              </a:rPr>
              <a:t>Step 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012680" y="2423160"/>
            <a:ext cx="9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3A5F"/>
                </a:solidFill>
              </a:rPr>
              <a:t>→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076688" y="1188720"/>
            <a:ext cx="1581912" cy="2926080"/>
          </a:xfrm>
          <a:prstGeom prst="rect">
            <a:avLst/>
          </a:prstGeom>
          <a:solidFill>
            <a:srgbClr val="D6E4F7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076688" y="1188720"/>
            <a:ext cx="1581912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076688" y="1243584"/>
            <a:ext cx="1581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076688" y="1719072"/>
            <a:ext cx="1581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3A5F"/>
                </a:solidFill>
              </a:rPr>
              <a:t>완료 팝업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186416" y="2240280"/>
            <a:ext cx="1362456" cy="10160"/>
          </a:xfrm>
          <a:prstGeom prst="rect">
            <a:avLst/>
          </a:prstGeom>
          <a:solidFill>
            <a:srgbClr val="CCD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168128" y="2377440"/>
            <a:ext cx="1399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page.evaluate()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168128" y="2670048"/>
            <a:ext cx="1399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팝업 표시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076688" y="3794760"/>
            <a:ext cx="15819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E3A5F"/>
                </a:solidFill>
              </a:rPr>
              <a:t>Step 7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01168" y="4297680"/>
            <a:ext cx="11795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65760" y="437083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사용 라이브러리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65760" y="4736592"/>
            <a:ext cx="1014983" cy="274320"/>
          </a:xfrm>
          <a:prstGeom prst="rect">
            <a:avLst/>
          </a:prstGeom>
          <a:solidFill>
            <a:srgbClr val="295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38912" y="4764024"/>
            <a:ext cx="92354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pywinauto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5047488"/>
            <a:ext cx="110642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88"/>
                </a:solidFill>
              </a:rPr>
              <a:t>Windows GUI 컨트롤 조작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609343" y="4736592"/>
            <a:ext cx="1014983" cy="274320"/>
          </a:xfrm>
          <a:prstGeom prst="rect">
            <a:avLst/>
          </a:prstGeom>
          <a:solidFill>
            <a:srgbClr val="0D8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682495" y="4764024"/>
            <a:ext cx="92354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pyautogui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609343" y="5047488"/>
            <a:ext cx="110642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88"/>
                </a:solidFill>
              </a:rPr>
              <a:t>마우스·키보드 시뮬레이션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852926" y="4736592"/>
            <a:ext cx="1097280" cy="274320"/>
          </a:xfrm>
          <a:prstGeom prst="rect">
            <a:avLst/>
          </a:prstGeom>
          <a:solidFill>
            <a:srgbClr val="1A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926078" y="4764024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Playwright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852926" y="504748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88"/>
                </a:solidFill>
              </a:rPr>
              <a:t>Chromium 브라우저 자동화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178806" y="4736592"/>
            <a:ext cx="768096" cy="274320"/>
          </a:xfrm>
          <a:prstGeom prst="rect">
            <a:avLst/>
          </a:prstGeom>
          <a:solidFill>
            <a:srgbClr val="6C3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251958" y="4764024"/>
            <a:ext cx="6766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psutil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178806" y="5047488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88"/>
                </a:solidFill>
              </a:rPr>
              <a:t>프로세스 PID 탐색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175502" y="4736592"/>
            <a:ext cx="1426464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248654" y="4764024"/>
            <a:ext cx="13350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win32clipboard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175502" y="5047488"/>
            <a:ext cx="15179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88"/>
                </a:solidFill>
              </a:rPr>
              <a:t>클립보드 텍스트 입력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830566" y="4736592"/>
            <a:ext cx="109728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903718" y="4764024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subprocess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830566" y="504748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88"/>
                </a:solidFill>
              </a:rPr>
              <a:t>외부 프로세스 실행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</a:rPr>
              <a:t>Step 1~2  sMES 실행 &amp; 창 연결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2179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4DE"/>
                </a:solidFill>
              </a:rPr>
              <a:t>관리자 권한 확인 → subprocess 실행 → pywinauto 창 연결 (백엔드 이중화)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37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0A0C8"/>
                </a:solidFill>
              </a:rPr>
              <a:t>키팅 자동화 시스템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365760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3657600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16128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🔐  관리자 권한 확인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" y="1627632"/>
            <a:ext cx="3511296" cy="17373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719072"/>
            <a:ext cx="3236976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66D9EF"/>
                </a:solidFill>
                <a:latin typeface="Consolas"/>
              </a:rPr>
              <a:t>def is_admin():</a:t>
            </a:r>
          </a:p>
          <a:p>
            <a:pPr algn="l"/>
            <a:r>
              <a:rPr sz="950" b="0">
                <a:solidFill>
                  <a:srgbClr val="A6E22E"/>
                </a:solidFill>
                <a:latin typeface="Consolas"/>
              </a:rPr>
              <a:t>    return ctypes.windll</a:t>
            </a:r>
          </a:p>
          <a:p>
            <a:pPr algn="l"/>
            <a:r>
              <a:rPr sz="950" b="0">
                <a:solidFill>
                  <a:srgbClr val="F8F8F2"/>
                </a:solidFill>
                <a:latin typeface="Consolas"/>
              </a:rPr>
              <a:t>        .shell32</a:t>
            </a:r>
          </a:p>
          <a:p>
            <a:pPr algn="l"/>
            <a:r>
              <a:rPr sz="950" b="0">
                <a:solidFill>
                  <a:srgbClr val="F8F8F2"/>
                </a:solidFill>
                <a:latin typeface="Consolas"/>
              </a:rPr>
              <a:t>        .IsUserAnAdmin()</a:t>
            </a:r>
          </a:p>
          <a:p>
            <a:pPr algn="l"/>
            <a:r>
              <a:rPr sz="950" b="0">
                <a:solidFill>
                  <a:srgbClr val="F8F8F2"/>
                </a:solidFill>
                <a:latin typeface="Consolas"/>
              </a:rPr>
              <a:t/>
            </a:r>
          </a:p>
          <a:p>
            <a:pPr algn="l"/>
            <a:r>
              <a:rPr sz="950" b="0">
                <a:solidFill>
                  <a:srgbClr val="F8F8F2"/>
                </a:solidFill>
                <a:latin typeface="Consolas"/>
              </a:rPr>
              <a:t>if not is_admin():</a:t>
            </a:r>
          </a:p>
          <a:p>
            <a:pPr algn="l"/>
            <a:r>
              <a:rPr sz="950" b="0">
                <a:solidFill>
                  <a:srgbClr val="F8F8F2"/>
                </a:solidFill>
                <a:latin typeface="Consolas"/>
              </a:rPr>
              <a:t>    elevate()  # UAC 재실행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4747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• ctypes Win32 API로 관리자 여부 확인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749039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• 권한 없으면 ShellExecuteW('runas') 로
  관리자 권한으로 자신을 재실행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42976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• pywinauto 일부 기능은 관리자 권한 필수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0520" y="1143000"/>
            <a:ext cx="365760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2952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60520" y="1143000"/>
            <a:ext cx="3657600" cy="384048"/>
          </a:xfrm>
          <a:prstGeom prst="rect">
            <a:avLst/>
          </a:prstGeom>
          <a:solidFill>
            <a:srgbClr val="295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116128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🚀  sMES.exe 실행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33672" y="1627632"/>
            <a:ext cx="3511296" cy="13716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0832" y="1719072"/>
            <a:ext cx="3236976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F8F8F2"/>
                </a:solidFill>
                <a:latin typeface="Consolas"/>
              </a:rPr>
              <a:t>SMES_EXE = Path(</a:t>
            </a:r>
          </a:p>
          <a:p>
            <a:pPr algn="l"/>
            <a:r>
              <a:rPr sz="950" b="0">
                <a:solidFill>
                  <a:srgbClr val="F8F8F2"/>
                </a:solidFill>
                <a:latin typeface="Consolas"/>
              </a:rPr>
              <a:t>  r'C:\Program Files\I2R\sMES'</a:t>
            </a:r>
          </a:p>
          <a:p>
            <a:pPr algn="l"/>
            <a:r>
              <a:rPr sz="950" b="0">
                <a:solidFill>
                  <a:srgbClr val="F8F8F2"/>
                </a:solidFill>
                <a:latin typeface="Consolas"/>
              </a:rPr>
              <a:t>)</a:t>
            </a:r>
          </a:p>
          <a:p>
            <a:pPr algn="l"/>
            <a:r>
              <a:rPr sz="950" b="0">
                <a:solidFill>
                  <a:srgbClr val="F8F8F2"/>
                </a:solidFill>
                <a:latin typeface="Consolas"/>
              </a:rPr>
              <a:t/>
            </a:r>
          </a:p>
          <a:p>
            <a:pPr algn="l"/>
            <a:r>
              <a:rPr sz="950" b="0">
                <a:solidFill>
                  <a:srgbClr val="F8F8F2"/>
                </a:solidFill>
                <a:latin typeface="Consolas"/>
              </a:rPr>
              <a:t>subprocess.Popen([str(SMES_EXE)])</a:t>
            </a:r>
          </a:p>
          <a:p>
            <a:pPr algn="l"/>
            <a:r>
              <a:rPr sz="950" b="0">
                <a:solidFill>
                  <a:srgbClr val="A6E22E"/>
                </a:solidFill>
                <a:latin typeface="Consolas"/>
              </a:rPr>
              <a:t>time.sleep(4.0)  # 로딩 대기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312724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• subprocess.Popen으로 비동기 실행
  (프로세스가 뜰 때까지 4초 대기)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365760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• 이미 실행 중이면 psutil로 PID를 찾아 재활용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404164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• exe 파일 부재 시 FileNotFoundError 발생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20" y="1143000"/>
            <a:ext cx="384048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D8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6720" y="1143000"/>
            <a:ext cx="3840480" cy="384048"/>
          </a:xfrm>
          <a:prstGeom prst="rect">
            <a:avLst/>
          </a:prstGeom>
          <a:solidFill>
            <a:srgbClr val="0D8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83879" y="116128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🔗  pywinauto 창 연결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19872" y="1627632"/>
            <a:ext cx="3694176" cy="18288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57032" y="1719072"/>
            <a:ext cx="3419856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F8F8F2"/>
                </a:solidFill>
                <a:latin typeface="Consolas"/>
              </a:rPr>
              <a:t>for backend in ('win32','uia'):</a:t>
            </a:r>
          </a:p>
          <a:p>
            <a:pPr algn="l"/>
            <a:r>
              <a:rPr sz="950" b="0">
                <a:solidFill>
                  <a:srgbClr val="F8F8F2"/>
                </a:solidFill>
                <a:latin typeface="Consolas"/>
              </a:rPr>
              <a:t>  app = Application(backend)</a:t>
            </a:r>
          </a:p>
          <a:p>
            <a:pPr algn="l"/>
            <a:r>
              <a:rPr sz="950" b="0">
                <a:solidFill>
                  <a:srgbClr val="F8F8F2"/>
                </a:solidFill>
                <a:latin typeface="Consolas"/>
              </a:rPr>
              <a:t>      .connect(process=pid)</a:t>
            </a:r>
          </a:p>
          <a:p>
            <a:pPr algn="l"/>
            <a:r>
              <a:rPr sz="950" b="0">
                <a:solidFill>
                  <a:srgbClr val="F8F8F2"/>
                </a:solidFill>
                <a:latin typeface="Consolas"/>
              </a:rPr>
              <a:t>  wins = app.windows()</a:t>
            </a:r>
          </a:p>
          <a:p>
            <a:pPr algn="l"/>
            <a:r>
              <a:rPr sz="950" b="0">
                <a:solidFill>
                  <a:srgbClr val="F8F8F2"/>
                </a:solidFill>
                <a:latin typeface="Consolas"/>
              </a:rPr>
              <a:t>  # 가장 큰 창 선택</a:t>
            </a:r>
          </a:p>
          <a:p>
            <a:pPr algn="l"/>
            <a:r>
              <a:rPr sz="950" b="0">
                <a:solidFill>
                  <a:srgbClr val="F8F8F2"/>
                </a:solidFill>
                <a:latin typeface="Consolas"/>
              </a:rPr>
              <a:t>  wins.sort(key=area)</a:t>
            </a:r>
          </a:p>
          <a:p>
            <a:pPr algn="l"/>
            <a:r>
              <a:rPr sz="950" b="0">
                <a:solidFill>
                  <a:srgbClr val="A6E22E"/>
                </a:solidFill>
                <a:latin typeface="Consolas"/>
              </a:rPr>
              <a:t>  return wins[0]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79" y="3584448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• win32 백엔드 우선 시도 → 실패 시 uia 재시도
  (구형/신형 sMES 모두 호환)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79" y="4133087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• psutil로 실행 중 PID를 먼저 탐색
  → 프로세스 ID로 직접 연결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79" y="468172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• 창 면적(width×height)이 가장 큰 창을 메인 창으로 선택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</a:rPr>
              <a:t>Step 3  sMES 로그인 자동화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2179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4DE"/>
                </a:solidFill>
              </a:rPr>
              <a:t>타이틀바 없는 borderless 로그인 폼 탐지 → Edit 컨트롤 Y좌표 정렬 → 클립보드 안전 입력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37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0A0C8"/>
                </a:solidFill>
              </a:rPr>
              <a:t>키팅 자동화 시스템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557784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6C35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5577840" cy="384048"/>
          </a:xfrm>
          <a:prstGeom prst="rect">
            <a:avLst/>
          </a:prstGeom>
          <a:solidFill>
            <a:srgbClr val="6C3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16128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🔍  로그인 폼 탐지 로직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" y="1627632"/>
            <a:ext cx="5431536" cy="2286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719072"/>
            <a:ext cx="5157216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75715E"/>
                </a:solidFill>
                <a:latin typeface="Consolas"/>
              </a:rPr>
              <a:t># Edit 컨트롤 2개 이상 있는 창 = 로그인 폼</a:t>
            </a:r>
          </a:p>
          <a:p>
            <a:pPr algn="l"/>
            <a:r>
              <a:rPr sz="950" b="0">
                <a:solidFill>
                  <a:srgbClr val="F8F8F2"/>
                </a:solidFill>
                <a:latin typeface="Consolas"/>
              </a:rPr>
              <a:t>for w in app.windows():</a:t>
            </a:r>
          </a:p>
          <a:p>
            <a:pPr algn="l"/>
            <a:r>
              <a:rPr sz="950" b="0">
                <a:solidFill>
                  <a:srgbClr val="F8F8F2"/>
                </a:solidFill>
                <a:latin typeface="Consolas"/>
              </a:rPr>
              <a:t>    edits = w.children(</a:t>
            </a:r>
          </a:p>
          <a:p>
            <a:pPr algn="l"/>
            <a:r>
              <a:rPr sz="950" b="0">
                <a:solidFill>
                  <a:srgbClr val="F8F8F2"/>
                </a:solidFill>
                <a:latin typeface="Consolas"/>
              </a:rPr>
              <a:t>        class_name_re='WindowsForms10.EDIT.*'</a:t>
            </a:r>
          </a:p>
          <a:p>
            <a:pPr algn="l"/>
            <a:r>
              <a:rPr sz="950" b="0">
                <a:solidFill>
                  <a:srgbClr val="F8F8F2"/>
                </a:solidFill>
                <a:latin typeface="Consolas"/>
              </a:rPr>
              <a:t>    )</a:t>
            </a:r>
          </a:p>
          <a:p>
            <a:pPr algn="l"/>
            <a:r>
              <a:rPr sz="950" b="0">
                <a:solidFill>
                  <a:srgbClr val="F8F8F2"/>
                </a:solidFill>
                <a:latin typeface="Consolas"/>
              </a:rPr>
              <a:t>    if len(edits) &gt;= 2:</a:t>
            </a:r>
          </a:p>
          <a:p>
            <a:pPr algn="l"/>
            <a:r>
              <a:rPr sz="950" b="0">
                <a:solidFill>
                  <a:srgbClr val="A6E22E"/>
                </a:solidFill>
                <a:latin typeface="Consolas"/>
              </a:rPr>
              <a:t>        return app, w  # 로그인 폼 발견!</a:t>
            </a:r>
          </a:p>
          <a:p>
            <a:pPr algn="l"/>
            <a:r>
              <a:rPr sz="950" b="0">
                <a:solidFill>
                  <a:srgbClr val="F8F8F2"/>
                </a:solidFill>
                <a:latin typeface="Consolas"/>
              </a:rPr>
              <a:t/>
            </a:r>
          </a:p>
          <a:p>
            <a:pPr algn="l"/>
            <a:r>
              <a:rPr sz="950" b="0">
                <a:solidFill>
                  <a:srgbClr val="75715E"/>
                </a:solidFill>
                <a:latin typeface="Consolas"/>
              </a:rPr>
              <a:t># 폴백: 가장 작은 창 (로그인 다이얼로그)</a:t>
            </a:r>
          </a:p>
          <a:p>
            <a:pPr algn="l"/>
            <a:r>
              <a:rPr sz="950" b="0">
                <a:solidFill>
                  <a:srgbClr val="F8F8F2"/>
                </a:solidFill>
                <a:latin typeface="Consolas"/>
              </a:rPr>
              <a:t>smallest = min(wins, key=area)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04164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① sMES 프로세스 PID로 연결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31596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② 모든 하위 창 순회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459028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③ WindowsForms10.EDIT 컨트롤 2개+ 창 탐지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86460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④ 타임아웃(20초) 내 반복 탐색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513892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⑤ 실패 시 → 가장 작은 창을 로그인 폼으로 가정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143000"/>
            <a:ext cx="576072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143000"/>
            <a:ext cx="5760720" cy="38404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16128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⌨  ID / PW 입력 전략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9632" y="1627632"/>
            <a:ext cx="5614416" cy="21945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1719072"/>
            <a:ext cx="5340096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75715E"/>
                </a:solidFill>
                <a:latin typeface="Consolas"/>
              </a:rPr>
              <a:t># Edit 컨트롤 Y좌표 정렬 → 위=ID, 아래=PW</a:t>
            </a:r>
          </a:p>
          <a:p>
            <a:pPr algn="l"/>
            <a:r>
              <a:rPr sz="950" b="0">
                <a:solidFill>
                  <a:srgbClr val="F8F8F2"/>
                </a:solidFill>
                <a:latin typeface="Consolas"/>
              </a:rPr>
              <a:t>edits.sort(key=lambda c: c.rectangle().top)</a:t>
            </a:r>
          </a:p>
          <a:p>
            <a:pPr algn="l"/>
            <a:r>
              <a:rPr sz="950" b="0">
                <a:solidFill>
                  <a:srgbClr val="F8F8F2"/>
                </a:solidFill>
                <a:latin typeface="Consolas"/>
              </a:rPr>
              <a:t>id_field, pw_field = edits[0], edits[1]</a:t>
            </a:r>
          </a:p>
          <a:p>
            <a:pPr algn="l"/>
            <a:r>
              <a:rPr sz="950" b="0">
                <a:solidFill>
                  <a:srgbClr val="F8F8F2"/>
                </a:solidFill>
                <a:latin typeface="Consolas"/>
              </a:rPr>
              <a:t/>
            </a:r>
          </a:p>
          <a:p>
            <a:pPr algn="l"/>
            <a:r>
              <a:rPr sz="950" b="0">
                <a:solidFill>
                  <a:srgbClr val="75715E"/>
                </a:solidFill>
                <a:latin typeface="Consolas"/>
              </a:rPr>
              <a:t># ID: type_keys 직접 입력</a:t>
            </a:r>
          </a:p>
          <a:p>
            <a:pPr algn="l"/>
            <a:r>
              <a:rPr sz="950" b="0">
                <a:solidFill>
                  <a:srgbClr val="F8F8F2"/>
                </a:solidFill>
                <a:latin typeface="Consolas"/>
              </a:rPr>
              <a:t>id_field.type_keys(SMES_ID)</a:t>
            </a:r>
          </a:p>
          <a:p>
            <a:pPr algn="l"/>
            <a:r>
              <a:rPr sz="950" b="0">
                <a:solidFill>
                  <a:srgbClr val="F8F8F2"/>
                </a:solidFill>
                <a:latin typeface="Consolas"/>
              </a:rPr>
              <a:t/>
            </a:r>
          </a:p>
          <a:p>
            <a:pPr algn="l"/>
            <a:r>
              <a:rPr sz="950" b="0">
                <a:solidFill>
                  <a:srgbClr val="75715E"/>
                </a:solidFill>
                <a:latin typeface="Consolas"/>
              </a:rPr>
              <a:t># PW: 클립보드 붙여넣기 (특수문자 안전)</a:t>
            </a:r>
          </a:p>
          <a:p>
            <a:pPr algn="l"/>
            <a:r>
              <a:rPr sz="950" b="0">
                <a:solidFill>
                  <a:srgbClr val="F8F8F2"/>
                </a:solidFill>
                <a:latin typeface="Consolas"/>
              </a:rPr>
              <a:t>win32clipboard.SetClipboardText(SMES_PW)</a:t>
            </a:r>
          </a:p>
          <a:p>
            <a:pPr algn="l"/>
            <a:r>
              <a:rPr sz="950" b="0">
                <a:solidFill>
                  <a:srgbClr val="F8F8F2"/>
                </a:solidFill>
                <a:latin typeface="Consolas"/>
              </a:rPr>
              <a:t>pyautogui.hotkey('ctrl', 'v')</a:t>
            </a:r>
          </a:p>
          <a:p>
            <a:pPr algn="l"/>
            <a:r>
              <a:rPr sz="950" b="0">
                <a:solidFill>
                  <a:srgbClr val="F8F8F2"/>
                </a:solidFill>
                <a:latin typeface="Consolas"/>
              </a:rPr>
              <a:t>pw_field.type_keys('{ENTER}')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3977639"/>
            <a:ext cx="502920" cy="502920"/>
          </a:xfrm>
          <a:prstGeom prst="rect">
            <a:avLst/>
          </a:prstGeom>
          <a:solidFill>
            <a:srgbClr val="295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4069079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4032503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type_keys()로 직접 입력
일반 영문+숫자 조합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4636007"/>
            <a:ext cx="502920" cy="502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4727447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4690871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클립보드 우회 입력
!@#$ 등 특수문자 오입력 방지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532180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8888"/>
                </a:solidFill>
              </a:rPr>
              <a:t>* 로그인 성공 검증: 로그인 폼(Edit 2개 창)이 닫히면 성공 판정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</a:rPr>
              <a:t>Step 4~5  메뉴 이동 &amp; Excel 다운로드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2179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4DE"/>
                </a:solidFill>
              </a:rPr>
              <a:t>생산관리 &gt; 조립 자재 kitting &gt; 날짜 설정 &gt; 조회 &gt; 품목별 Excel 다운로드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37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0A0C8"/>
                </a:solidFill>
              </a:rPr>
              <a:t>키팅 자동화 시스템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2212848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952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2212848" cy="365760"/>
          </a:xfrm>
          <a:prstGeom prst="rect">
            <a:avLst/>
          </a:prstGeom>
          <a:solidFill>
            <a:srgbClr val="295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170432"/>
            <a:ext cx="19933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생산관리 클릭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600200"/>
            <a:ext cx="19385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_try_click(['생산관리'])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87168" y="1554480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3A5F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96896" y="1143000"/>
            <a:ext cx="2212848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0D8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96896" y="1143000"/>
            <a:ext cx="2212848" cy="365760"/>
          </a:xfrm>
          <a:prstGeom prst="rect">
            <a:avLst/>
          </a:prstGeom>
          <a:solidFill>
            <a:srgbClr val="0D8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06624" y="1170432"/>
            <a:ext cx="19933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kitting 메뉴 클릭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34056" y="1600200"/>
            <a:ext cx="19385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_try_click(['조립 자재 kitting'])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9744" y="1554480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3A5F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19472" y="1143000"/>
            <a:ext cx="2212848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6C35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19472" y="1143000"/>
            <a:ext cx="2212848" cy="365760"/>
          </a:xfrm>
          <a:prstGeom prst="rect">
            <a:avLst/>
          </a:prstGeom>
          <a:solidFill>
            <a:srgbClr val="6C3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1170432"/>
            <a:ext cx="19933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생산일자 설정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56632" y="1600200"/>
            <a:ext cx="19385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set_date(main_win)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56632" y="1874520"/>
            <a:ext cx="19385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Today 자동 입력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1554480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3A5F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42048" y="1143000"/>
            <a:ext cx="2212848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42048" y="1143000"/>
            <a:ext cx="2212848" cy="3657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51776" y="1170432"/>
            <a:ext cx="19933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조회 버튼 클릭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79208" y="1600200"/>
            <a:ext cx="19385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_try_click(['조회', '검색'])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1554480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3A5F"/>
                </a:solidFill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64624" y="1143000"/>
            <a:ext cx="2212848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1A8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564624" y="1143000"/>
            <a:ext cx="2212848" cy="365760"/>
          </a:xfrm>
          <a:prstGeom prst="rect">
            <a:avLst/>
          </a:prstGeom>
          <a:solidFill>
            <a:srgbClr val="1A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74352" y="1170432"/>
            <a:ext cx="19933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Excel 다운로드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01784" y="1600200"/>
            <a:ext cx="19385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download_all_items(main_win)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2834640"/>
            <a:ext cx="530352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D8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4320" y="2834640"/>
            <a:ext cx="5303520" cy="384048"/>
          </a:xfrm>
          <a:prstGeom prst="rect">
            <a:avLst/>
          </a:prstGeom>
          <a:solidFill>
            <a:srgbClr val="0D8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285292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🔍  _try_click() 다중 탐색 전략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7472" y="3319272"/>
            <a:ext cx="5157216" cy="15087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4632" y="3410712"/>
            <a:ext cx="4882896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F8F8F2"/>
                </a:solidFill>
                <a:latin typeface="Consolas"/>
              </a:rPr>
              <a:t>for name in candidates:</a:t>
            </a:r>
          </a:p>
          <a:p>
            <a:pPr algn="l"/>
            <a:r>
              <a:rPr sz="950" b="0">
                <a:solidFill>
                  <a:srgbClr val="F8F8F2"/>
                </a:solidFill>
                <a:latin typeface="Consolas"/>
              </a:rPr>
              <a:t>  for ct in [Button, MenuItem,</a:t>
            </a:r>
          </a:p>
          <a:p>
            <a:pPr algn="l"/>
            <a:r>
              <a:rPr sz="950" b="0">
                <a:solidFill>
                  <a:srgbClr val="F8F8F2"/>
                </a:solidFill>
                <a:latin typeface="Consolas"/>
              </a:rPr>
              <a:t>    TreeItem, ListItem, Text]:</a:t>
            </a:r>
          </a:p>
          <a:p>
            <a:pPr algn="l"/>
            <a:r>
              <a:rPr sz="950" b="0">
                <a:solidFill>
                  <a:srgbClr val="F8F8F2"/>
                </a:solidFill>
                <a:latin typeface="Consolas"/>
              </a:rPr>
              <a:t>    ctrl = win.child_window(</a:t>
            </a:r>
          </a:p>
          <a:p>
            <a:pPr algn="l"/>
            <a:r>
              <a:rPr sz="950" b="0">
                <a:solidFill>
                  <a:srgbClr val="F8F8F2"/>
                </a:solidFill>
                <a:latin typeface="Consolas"/>
              </a:rPr>
              <a:t>        title_re=f'.*{name}.*',</a:t>
            </a:r>
          </a:p>
          <a:p>
            <a:pPr algn="l"/>
            <a:r>
              <a:rPr sz="950" b="0">
                <a:solidFill>
                  <a:srgbClr val="F8F8F2"/>
                </a:solidFill>
                <a:latin typeface="Consolas"/>
              </a:rPr>
              <a:t>        control_type=ct)</a:t>
            </a:r>
          </a:p>
          <a:p>
            <a:pPr algn="l"/>
            <a:r>
              <a:rPr sz="950" b="0">
                <a:solidFill>
                  <a:srgbClr val="F8F8F2"/>
                </a:solidFill>
                <a:latin typeface="Consolas"/>
              </a:rPr>
              <a:t>    if ctrl.exists(): ctrl.click_input()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491947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• 후보 텍스트 여러 개 &amp; 컨트롤 타입 전수 시도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517550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• 클릭 성공 시 True, 전부 실패 시 수동 입력 요청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852160" y="2834640"/>
            <a:ext cx="603504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852160" y="2834640"/>
            <a:ext cx="6035040" cy="38404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89320" y="2852928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📥  품목별 Excel 다운로드 2가지 방식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89320" y="3337560"/>
            <a:ext cx="5715000" cy="1170432"/>
          </a:xfrm>
          <a:prstGeom prst="rect">
            <a:avLst/>
          </a:prstGeom>
          <a:solidFill>
            <a:srgbClr val="F4F6F9"/>
          </a:solidFill>
          <a:ln w="12700">
            <a:solidFill>
              <a:srgbClr val="2952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26480" y="3392424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952A3"/>
                </a:solidFill>
              </a:rPr>
              <a:t>방식 A: 그리드 행 탐지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0" y="3685032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DataItem/ListItem 컨트롤 목록 감지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0" y="393192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행 클릭 → Excel 버튼 → 저장 다이얼로그 처리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26480" y="4206240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868C"/>
                </a:solidFill>
              </a:rPr>
              <a:t>→ 파일명: {품목명}_{YYYYMMDD}.xlsx  /  Downloads 폴더에서 kitting 폴더로 이동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89320" y="4663440"/>
            <a:ext cx="5715000" cy="1170432"/>
          </a:xfrm>
          <a:prstGeom prst="rect">
            <a:avLst/>
          </a:prstGeom>
          <a:solidFill>
            <a:srgbClr val="F4F6F9"/>
          </a:solidFill>
          <a:ln w="12700">
            <a:solidFill>
              <a:srgbClr val="6C35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26480" y="4718304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6C359E"/>
                </a:solidFill>
              </a:rPr>
              <a:t>방식 B: 키보드 Down 방식 (폴백)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26480" y="5010912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그리드 행 감지 실패 시 자동 전환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26480" y="525780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Ctrl+Home → Down키 반복 → 최대 200행 처리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26480" y="5532120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868C"/>
                </a:solidFill>
              </a:rPr>
              <a:t>→ 파일명: {품목명}_{YYYYMMDD}.xlsx  /  Downloads 폴더에서 kitting 폴더로 이동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</a:rPr>
              <a:t>Step 6  Playwright — 자재부족현황 웹 자동 업로드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2179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4DE"/>
                </a:solidFill>
              </a:rPr>
              <a:t>Chromium 브라우저 자동 실행 → 로그인 → 키팅 초기화 → 파일 일괄 업로드 → 완료 팝업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37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0A0C8"/>
                </a:solidFill>
              </a:rPr>
              <a:t>키팅 자동화 시스템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2212848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2952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2212848" cy="384048"/>
          </a:xfrm>
          <a:prstGeom prst="rect">
            <a:avLst/>
          </a:prstGeom>
          <a:solidFill>
            <a:srgbClr val="295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170432"/>
            <a:ext cx="19933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① 브라우저 실행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1600200"/>
            <a:ext cx="1993392" cy="10160"/>
          </a:xfrm>
          <a:prstGeom prst="rect">
            <a:avLst/>
          </a:prstGeom>
          <a:solidFill>
            <a:srgbClr val="CCD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719072"/>
            <a:ext cx="19385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sync_playwright()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048256"/>
            <a:ext cx="19385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p.chromium.launch()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377440"/>
            <a:ext cx="19385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headless=False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87168" y="1920240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3A5F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96896" y="1143000"/>
            <a:ext cx="2212848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D8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96896" y="1143000"/>
            <a:ext cx="2212848" cy="384048"/>
          </a:xfrm>
          <a:prstGeom prst="rect">
            <a:avLst/>
          </a:prstGeom>
          <a:solidFill>
            <a:srgbClr val="0D8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06624" y="1170432"/>
            <a:ext cx="19933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② HTML 열기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06624" y="1600200"/>
            <a:ext cx="1993392" cy="10160"/>
          </a:xfrm>
          <a:prstGeom prst="rect">
            <a:avLst/>
          </a:prstGeom>
          <a:solidFill>
            <a:srgbClr val="CCD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34056" y="1719072"/>
            <a:ext cx="19385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page.goto(HTML_FILE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34056" y="2048256"/>
            <a:ext cx="19385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.as_uri())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34056" y="2377440"/>
            <a:ext cx="19385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로컬 파일 직접 열기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9744" y="1920240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3A5F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19472" y="1143000"/>
            <a:ext cx="2212848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6C35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919472" y="1143000"/>
            <a:ext cx="2212848" cy="384048"/>
          </a:xfrm>
          <a:prstGeom prst="rect">
            <a:avLst/>
          </a:prstGeom>
          <a:solidFill>
            <a:srgbClr val="6C3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0" y="1170432"/>
            <a:ext cx="19933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③ 로그인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0" y="1600200"/>
            <a:ext cx="1993392" cy="10160"/>
          </a:xfrm>
          <a:prstGeom prst="rect">
            <a:avLst/>
          </a:prstGeom>
          <a:solidFill>
            <a:srgbClr val="CCD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56632" y="1719072"/>
            <a:ext cx="19385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#login-email 입력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56632" y="2048256"/>
            <a:ext cx="19385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#login-pw 입력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56632" y="2377440"/>
            <a:ext cx="19385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#btn-login 클릭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1920240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3A5F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42048" y="1143000"/>
            <a:ext cx="2212848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242048" y="1143000"/>
            <a:ext cx="2212848" cy="38404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51776" y="1170432"/>
            <a:ext cx="19933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④ 키팅 초기화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51776" y="1426464"/>
            <a:ext cx="19933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+ 파일 업로드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51776" y="1600200"/>
            <a:ext cx="1993392" cy="10160"/>
          </a:xfrm>
          <a:prstGeom prst="rect">
            <a:avLst/>
          </a:prstGeom>
          <a:solidFill>
            <a:srgbClr val="CCD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79208" y="1719072"/>
            <a:ext cx="19385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.btn-kit-clear 클릭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79208" y="2048256"/>
            <a:ext cx="19385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#file-kit.set_input_files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79208" y="2377440"/>
            <a:ext cx="19385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(xlsx 파일 목록)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54896" y="1920240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3A5F"/>
                </a:solidFill>
              </a:rPr>
              <a:t>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564624" y="1143000"/>
            <a:ext cx="2212848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A8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564624" y="1143000"/>
            <a:ext cx="2212848" cy="384048"/>
          </a:xfrm>
          <a:prstGeom prst="rect">
            <a:avLst/>
          </a:prstGeom>
          <a:solidFill>
            <a:srgbClr val="1A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74352" y="1170432"/>
            <a:ext cx="19933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⑤ 완료 팝업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674352" y="1600200"/>
            <a:ext cx="1993392" cy="10160"/>
          </a:xfrm>
          <a:prstGeom prst="rect">
            <a:avLst/>
          </a:prstGeom>
          <a:solidFill>
            <a:srgbClr val="CCD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701784" y="1719072"/>
            <a:ext cx="19385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page.evaluate()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01784" y="2048256"/>
            <a:ext cx="19385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JS로 팝업 DOM 삽입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01784" y="2377440"/>
            <a:ext cx="19385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60초 대기 후 종료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3703320"/>
            <a:ext cx="5669280" cy="2834640"/>
          </a:xfrm>
          <a:prstGeom prst="rect">
            <a:avLst/>
          </a:prstGeom>
          <a:solidFill>
            <a:srgbClr val="FFFFFF"/>
          </a:solidFill>
          <a:ln w="19050">
            <a:solidFill>
              <a:srgbClr val="2952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74320" y="3703320"/>
            <a:ext cx="5669280" cy="384048"/>
          </a:xfrm>
          <a:prstGeom prst="rect">
            <a:avLst/>
          </a:prstGeom>
          <a:solidFill>
            <a:srgbClr val="295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" y="372160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핵심 코드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47472" y="4187952"/>
            <a:ext cx="5522976" cy="2212848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84632" y="4279392"/>
            <a:ext cx="5248656" cy="2029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F8F8F2"/>
                </a:solidFill>
                <a:latin typeface="Consolas"/>
              </a:rPr>
              <a:t>with sync_playwright() as p:</a:t>
            </a:r>
          </a:p>
          <a:p>
            <a:pPr algn="l"/>
            <a:r>
              <a:rPr sz="950" b="0">
                <a:solidFill>
                  <a:srgbClr val="F8F8F2"/>
                </a:solidFill>
                <a:latin typeface="Consolas"/>
              </a:rPr>
              <a:t>  browser = p.chromium.launch(</a:t>
            </a:r>
          </a:p>
          <a:p>
            <a:pPr algn="l"/>
            <a:r>
              <a:rPr sz="950" b="0">
                <a:solidFill>
                  <a:srgbClr val="F8F8F2"/>
                </a:solidFill>
                <a:latin typeface="Consolas"/>
              </a:rPr>
              <a:t>      headless=False)</a:t>
            </a:r>
          </a:p>
          <a:p>
            <a:pPr algn="l"/>
            <a:r>
              <a:rPr sz="950" b="0">
                <a:solidFill>
                  <a:srgbClr val="F8F8F2"/>
                </a:solidFill>
                <a:latin typeface="Consolas"/>
              </a:rPr>
              <a:t>  page = browser.new_context()</a:t>
            </a:r>
          </a:p>
          <a:p>
            <a:pPr algn="l"/>
            <a:r>
              <a:rPr sz="950" b="0">
                <a:solidFill>
                  <a:srgbClr val="F8F8F2"/>
                </a:solidFill>
                <a:latin typeface="Consolas"/>
              </a:rPr>
              <a:t>          .new_page()</a:t>
            </a:r>
          </a:p>
          <a:p>
            <a:pPr algn="l"/>
            <a:r>
              <a:rPr sz="950" b="0">
                <a:solidFill>
                  <a:srgbClr val="F8F8F2"/>
                </a:solidFill>
                <a:latin typeface="Consolas"/>
              </a:rPr>
              <a:t>  page.goto(HTML_FILE.as_uri())</a:t>
            </a:r>
          </a:p>
          <a:p>
            <a:pPr algn="l"/>
            <a:r>
              <a:rPr sz="950" b="0">
                <a:solidFill>
                  <a:srgbClr val="F8F8F2"/>
                </a:solidFill>
                <a:latin typeface="Consolas"/>
              </a:rPr>
              <a:t>  page.locator('#file-kit')</a:t>
            </a:r>
          </a:p>
          <a:p>
            <a:pPr algn="l"/>
            <a:r>
              <a:rPr sz="950" b="0">
                <a:solidFill>
                  <a:srgbClr val="F8F8F2"/>
                </a:solidFill>
                <a:latin typeface="Consolas"/>
              </a:rPr>
              <a:t>      .set_input_files(valid_files)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17920" y="3703320"/>
            <a:ext cx="5669280" cy="2834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A8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217920" y="3703320"/>
            <a:ext cx="5669280" cy="384048"/>
          </a:xfrm>
          <a:prstGeom prst="rect">
            <a:avLst/>
          </a:prstGeom>
          <a:solidFill>
            <a:srgbClr val="1A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55080" y="372160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주요 특이사항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55080" y="4187952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• headless=False  →  브라우저 창이 화면에 보이도록 실행 (숨김 모드 비활성)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55080" y="466344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• set_input_files()  →  복수 파일 동시 업로드 지원 (다운로드된 모든 xlsx 한 번에)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55080" y="5138928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• page.evaluate()  →  JS 직접 실행으로 완료 팝업 DOM 삽입 (alert 대신 커스텀 UI)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55080" y="5614416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• 60초 대기  →  page.wait_for_timeout(60000) 사용자 확인 후 브라우저 종료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</a:rPr>
              <a:t>오류 처리 &amp; 폴백 전략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2179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4DE"/>
                </a:solidFill>
              </a:rPr>
              <a:t>자동화 실패 시 사용자 개입(input) 요청 또는 대체 방식으로 계속 진행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37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0A0C8"/>
                </a:solidFill>
              </a:rPr>
              <a:t>키팅 자동화 시스템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143000"/>
            <a:ext cx="2834640" cy="2240280"/>
          </a:xfrm>
          <a:prstGeom prst="rect">
            <a:avLst/>
          </a:prstGeom>
          <a:solidFill>
            <a:srgbClr val="FFFFFF"/>
          </a:solidFill>
          <a:ln w="1524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143000"/>
            <a:ext cx="2834640" cy="32918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" y="1179576"/>
            <a:ext cx="26151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sMES.exe 없음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" y="1527048"/>
            <a:ext cx="2615184" cy="20116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3619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888888"/>
                </a:solidFill>
              </a:rPr>
              <a:t>원인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755648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FileNotFoundError 발생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" y="2331720"/>
            <a:ext cx="2615184" cy="20116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34086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처리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587752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0392B"/>
                </a:solidFill>
              </a:rPr>
              <a:t>실행 경로 SMES_EXE 확인 후 수정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54680" y="1143000"/>
            <a:ext cx="2834640" cy="2240280"/>
          </a:xfrm>
          <a:prstGeom prst="rect">
            <a:avLst/>
          </a:prstGeom>
          <a:solidFill>
            <a:srgbClr val="FFFFFF"/>
          </a:solidFill>
          <a:ln w="1524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54680" y="1143000"/>
            <a:ext cx="2834640" cy="32918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64408" y="1179576"/>
            <a:ext cx="26151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창 연결 실패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64408" y="1527048"/>
            <a:ext cx="2615184" cy="20116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1840" y="153619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888888"/>
                </a:solidFill>
              </a:rPr>
              <a:t>원인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1755648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win32 실패 → uia 재시도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2002536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두 백엔드 모두 실패 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64408" y="2331720"/>
            <a:ext cx="2615184" cy="20116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91840" y="234086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처리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2587752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67E22"/>
                </a:solidFill>
              </a:rPr>
              <a:t>"수동으로 sMES를 열어주세요"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2834640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67E22"/>
                </a:solidFill>
              </a:rPr>
              <a:t>input() 대기 후 재탐색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80760" y="1143000"/>
            <a:ext cx="2834640" cy="2240280"/>
          </a:xfrm>
          <a:prstGeom prst="rect">
            <a:avLst/>
          </a:prstGeom>
          <a:solidFill>
            <a:srgbClr val="FFFFFF"/>
          </a:solidFill>
          <a:ln w="15240">
            <a:solidFill>
              <a:srgbClr val="6C35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80760" y="1143000"/>
            <a:ext cx="2834640" cy="329184"/>
          </a:xfrm>
          <a:prstGeom prst="rect">
            <a:avLst/>
          </a:prstGeom>
          <a:solidFill>
            <a:srgbClr val="6C3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90488" y="1179576"/>
            <a:ext cx="26151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로그인 창 미탐지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90488" y="1527048"/>
            <a:ext cx="2615184" cy="20116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153619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888888"/>
                </a:solidFill>
              </a:rPr>
              <a:t>원인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1755648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20초 타임아웃 내 Edit 2개 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2002536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발견 못할 경우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90488" y="2331720"/>
            <a:ext cx="2615184" cy="201168"/>
          </a:xfrm>
          <a:prstGeom prst="rect">
            <a:avLst/>
          </a:prstGeom>
          <a:solidFill>
            <a:srgbClr val="6C3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0" y="234086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처리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2587752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C359E"/>
                </a:solidFill>
              </a:rPr>
              <a:t>가장 작은 창을 로그인 폼으로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2834640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C359E"/>
                </a:solidFill>
              </a:rPr>
              <a:t>가정 후 진행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06840" y="1143000"/>
            <a:ext cx="2834640" cy="2240280"/>
          </a:xfrm>
          <a:prstGeom prst="rect">
            <a:avLst/>
          </a:prstGeom>
          <a:solidFill>
            <a:srgbClr val="FFFFFF"/>
          </a:solidFill>
          <a:ln w="15240">
            <a:solidFill>
              <a:srgbClr val="0D8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006840" y="1143000"/>
            <a:ext cx="2834640" cy="329184"/>
          </a:xfrm>
          <a:prstGeom prst="rect">
            <a:avLst/>
          </a:prstGeom>
          <a:solidFill>
            <a:srgbClr val="0D8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16568" y="1179576"/>
            <a:ext cx="26151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로그인 실패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16568" y="1527048"/>
            <a:ext cx="2615184" cy="20116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153619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888888"/>
                </a:solidFill>
              </a:rPr>
              <a:t>원인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0" y="1755648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10초 후에도 로그인 창이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0" y="2002536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닫히지 않은 경우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16568" y="2331720"/>
            <a:ext cx="2615184" cy="201168"/>
          </a:xfrm>
          <a:prstGeom prst="rect">
            <a:avLst/>
          </a:prstGeom>
          <a:solidFill>
            <a:srgbClr val="0D8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0" y="234086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처리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0" y="2587752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868C"/>
                </a:solidFill>
              </a:rPr>
              <a:t>RuntimeError → 사용자에게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0" y="2834640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868C"/>
                </a:solidFill>
              </a:rPr>
              <a:t>수동 로그인 안내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8600" y="3493008"/>
            <a:ext cx="2834640" cy="2240280"/>
          </a:xfrm>
          <a:prstGeom prst="rect">
            <a:avLst/>
          </a:prstGeom>
          <a:solidFill>
            <a:srgbClr val="FFFFFF"/>
          </a:solidFill>
          <a:ln w="15240">
            <a:solidFill>
              <a:srgbClr val="2952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28600" y="3493008"/>
            <a:ext cx="2834640" cy="329184"/>
          </a:xfrm>
          <a:prstGeom prst="rect">
            <a:avLst/>
          </a:prstGeom>
          <a:solidFill>
            <a:srgbClr val="295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8328" y="3529584"/>
            <a:ext cx="26151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그리드 행 미탐지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38328" y="3877056"/>
            <a:ext cx="2615184" cy="20116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5760" y="388620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888888"/>
                </a:solidFill>
              </a:rPr>
              <a:t>원인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5760" y="4105656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DataItem/ListItem 등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4352544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모든 컨트롤 타입 탐색 실패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38328" y="4681728"/>
            <a:ext cx="2615184" cy="201168"/>
          </a:xfrm>
          <a:prstGeom prst="rect">
            <a:avLst/>
          </a:prstGeom>
          <a:solidFill>
            <a:srgbClr val="295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65760" y="469087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처리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5760" y="4937760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952A3"/>
                </a:solidFill>
              </a:rPr>
              <a:t>키보드 Down 방식으로 자동 전환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" y="5184648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952A3"/>
                </a:solidFill>
              </a:rPr>
              <a:t>(최대 200회 반복)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154680" y="3493008"/>
            <a:ext cx="2834640" cy="2240280"/>
          </a:xfrm>
          <a:prstGeom prst="rect">
            <a:avLst/>
          </a:prstGeom>
          <a:solidFill>
            <a:srgbClr val="FFFFFF"/>
          </a:solidFill>
          <a:ln w="1524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154680" y="3493008"/>
            <a:ext cx="2834640" cy="32918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64408" y="3529584"/>
            <a:ext cx="26151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Excel 버튼 미탐지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264408" y="3877056"/>
            <a:ext cx="2615184" cy="20116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291840" y="388620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888888"/>
                </a:solidFill>
              </a:rPr>
              <a:t>원인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291840" y="4105656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Excel 다운로드 버튼을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291840" y="4352544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찾지 못한 경우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264408" y="4681728"/>
            <a:ext cx="2615184" cy="20116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291840" y="469087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처리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291840" y="4937760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67E22"/>
                </a:solidFill>
              </a:rPr>
              <a:t>"수동 저장 후 Enter" 안내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291840" y="5184648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67E22"/>
                </a:solidFill>
              </a:rPr>
              <a:t>Downloads 폴더에서 자동 이동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080760" y="3493008"/>
            <a:ext cx="2834640" cy="2240280"/>
          </a:xfrm>
          <a:prstGeom prst="rect">
            <a:avLst/>
          </a:prstGeom>
          <a:solidFill>
            <a:srgbClr val="FFFFFF"/>
          </a:solidFill>
          <a:ln w="15240">
            <a:solidFill>
              <a:srgbClr val="1A8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080760" y="3493008"/>
            <a:ext cx="2834640" cy="329184"/>
          </a:xfrm>
          <a:prstGeom prst="rect">
            <a:avLst/>
          </a:prstGeom>
          <a:solidFill>
            <a:srgbClr val="1A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190488" y="3529584"/>
            <a:ext cx="26151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저장 다이얼로그 없음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190488" y="3877056"/>
            <a:ext cx="2615184" cy="20116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217920" y="388620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888888"/>
                </a:solidFill>
              </a:rPr>
              <a:t>원인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17920" y="4105656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자동 저장된 경우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217920" y="4352544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(다이얼로그 미표시)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190488" y="4681728"/>
            <a:ext cx="2615184" cy="201168"/>
          </a:xfrm>
          <a:prstGeom prst="rect">
            <a:avLst/>
          </a:prstGeom>
          <a:solidFill>
            <a:srgbClr val="1A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217920" y="469087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처리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217920" y="4937760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8A4A"/>
                </a:solidFill>
              </a:rPr>
              <a:t>Downloads 폴더 최근 xlsx 파일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17920" y="5184648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8A4A"/>
                </a:solidFill>
              </a:rPr>
              <a:t>(30초 이내) 자동 이동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006840" y="3493008"/>
            <a:ext cx="2834640" cy="2240280"/>
          </a:xfrm>
          <a:prstGeom prst="rect">
            <a:avLst/>
          </a:prstGeom>
          <a:solidFill>
            <a:srgbClr val="FFFFFF"/>
          </a:solidFill>
          <a:ln w="1524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006840" y="3493008"/>
            <a:ext cx="2834640" cy="32918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116568" y="3529584"/>
            <a:ext cx="26151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Playwright 로그인 실패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116568" y="3877056"/>
            <a:ext cx="2615184" cy="20116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144000" y="388620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888888"/>
                </a:solidFill>
              </a:rPr>
              <a:t>원인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144000" y="4105656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locator 탐색 실패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144000" y="4352544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(HTML 구조 변경 등)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116568" y="4681728"/>
            <a:ext cx="2615184" cy="20116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144000" y="469087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처리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144000" y="4937760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0392B"/>
                </a:solidFill>
              </a:rPr>
              <a:t>"수동 로그인 후 Enter" 대기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144000" y="5184648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0392B"/>
                </a:solidFill>
              </a:rPr>
              <a:t>이후 파일 업로드 진행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457200"/>
            <a:ext cx="4572000" cy="4572000"/>
          </a:xfrm>
          <a:prstGeom prst="ellipse">
            <a:avLst/>
          </a:prstGeom>
          <a:solidFill>
            <a:srgbClr val="254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4572000"/>
            <a:ext cx="3657600" cy="3657600"/>
          </a:xfrm>
          <a:prstGeom prst="ellipse">
            <a:avLst/>
          </a:prstGeom>
          <a:solidFill>
            <a:srgbClr val="18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</a:rPr>
              <a:t>사전 설치 &amp; 실행 방법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37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0A0C8"/>
                </a:solidFill>
              </a:rPr>
              <a:t>키팅 자동화 시스템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1  라이브러리 설치 (pip)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00200"/>
            <a:ext cx="11430000" cy="749808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91640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F8F8F2"/>
                </a:solidFill>
                <a:latin typeface="Consolas"/>
              </a:rPr>
              <a:t>pip install pywinauto pyautogui pillow playwright psutil keyboard pywin32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48716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2  Playwright 브라우저 설치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944368"/>
            <a:ext cx="11430000" cy="566928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03580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F8F8F2"/>
                </a:solidFill>
                <a:latin typeface="Consolas"/>
              </a:rPr>
              <a:t>playwright install chromium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675887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3  실행 (관리자 권한 자동 획득)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133087"/>
            <a:ext cx="11430000" cy="566928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224527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F8F8F2"/>
                </a:solidFill>
                <a:latin typeface="Consolas"/>
              </a:rPr>
              <a:t>python kitting_automation.py     # 또는  run.bat 더블클릭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846320"/>
            <a:ext cx="1828800" cy="320040"/>
          </a:xfrm>
          <a:prstGeom prst="rect">
            <a:avLst/>
          </a:prstGeom>
          <a:solidFill>
            <a:srgbClr val="295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488289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SMES_EXE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489204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D8F0"/>
                </a:solidFill>
              </a:rPr>
              <a:t>sMES 설치 경로 확인 필수  (C:\Program Files (x86)\I2R\sMES\sMES.exe)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257800"/>
            <a:ext cx="1828800" cy="320040"/>
          </a:xfrm>
          <a:prstGeom prst="rect">
            <a:avLst/>
          </a:prstGeom>
          <a:solidFill>
            <a:srgbClr val="295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529437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SMES_ID/PW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530352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D8F0"/>
                </a:solidFill>
              </a:rPr>
              <a:t>sMES 로그인 계정 설정  (SSAT045 / rlatndus1!)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669280"/>
            <a:ext cx="1828800" cy="320040"/>
          </a:xfrm>
          <a:prstGeom prst="rect">
            <a:avLst/>
          </a:prstGeom>
          <a:solidFill>
            <a:srgbClr val="295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570585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WEB_EMAIL/PW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571500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D8F0"/>
                </a:solidFill>
              </a:rPr>
              <a:t>자재부족현황 웹앱 계정 설정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6080760"/>
            <a:ext cx="1828800" cy="320040"/>
          </a:xfrm>
          <a:prstGeom prst="rect">
            <a:avLst/>
          </a:prstGeom>
          <a:solidFill>
            <a:srgbClr val="295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611733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DOWNLOAD_DIR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612648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D8F0"/>
                </a:solidFill>
              </a:rPr>
              <a:t>Excel 저장 경로  (kitting 자재 폴더)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